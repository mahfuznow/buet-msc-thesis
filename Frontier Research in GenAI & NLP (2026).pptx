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DF18E25-9415-48BD-AE2A-7925C7C6ACA5}">
  <a:tblStyle styleId="{4DF18E25-9415-48BD-AE2A-7925C7C6ACA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Relationship Id="rId11" Type="http://schemas.openxmlformats.org/officeDocument/2006/relationships/image" Target="../media/image7.png"/><Relationship Id="rId10" Type="http://schemas.openxmlformats.org/officeDocument/2006/relationships/image" Target="../media/image20.png"/><Relationship Id="rId12" Type="http://schemas.openxmlformats.org/officeDocument/2006/relationships/image" Target="../media/image15.png"/><Relationship Id="rId9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8.png"/><Relationship Id="rId8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9" Type="http://schemas.openxmlformats.org/officeDocument/2006/relationships/image" Target="../media/image34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35.png"/><Relationship Id="rId8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9" Type="http://schemas.openxmlformats.org/officeDocument/2006/relationships/image" Target="../media/image60.png"/><Relationship Id="rId5" Type="http://schemas.openxmlformats.org/officeDocument/2006/relationships/image" Target="../media/image40.png"/><Relationship Id="rId6" Type="http://schemas.openxmlformats.org/officeDocument/2006/relationships/image" Target="../media/image32.png"/><Relationship Id="rId7" Type="http://schemas.openxmlformats.org/officeDocument/2006/relationships/image" Target="../media/image22.png"/><Relationship Id="rId8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4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0.png"/><Relationship Id="rId5" Type="http://schemas.openxmlformats.org/officeDocument/2006/relationships/image" Target="../media/image43.png"/><Relationship Id="rId6" Type="http://schemas.openxmlformats.org/officeDocument/2006/relationships/image" Target="../media/image36.png"/><Relationship Id="rId7" Type="http://schemas.openxmlformats.org/officeDocument/2006/relationships/image" Target="../media/image18.png"/><Relationship Id="rId8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57.png"/><Relationship Id="rId5" Type="http://schemas.openxmlformats.org/officeDocument/2006/relationships/image" Target="../media/image48.png"/><Relationship Id="rId6" Type="http://schemas.openxmlformats.org/officeDocument/2006/relationships/image" Target="../media/image4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27.png"/><Relationship Id="rId10" Type="http://schemas.openxmlformats.org/officeDocument/2006/relationships/image" Target="../media/image37.png"/><Relationship Id="rId9" Type="http://schemas.openxmlformats.org/officeDocument/2006/relationships/image" Target="../media/image33.png"/><Relationship Id="rId5" Type="http://schemas.openxmlformats.org/officeDocument/2006/relationships/image" Target="../media/image42.png"/><Relationship Id="rId6" Type="http://schemas.openxmlformats.org/officeDocument/2006/relationships/image" Target="../media/image52.png"/><Relationship Id="rId7" Type="http://schemas.openxmlformats.org/officeDocument/2006/relationships/image" Target="../media/image39.png"/><Relationship Id="rId8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53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Relationship Id="rId7" Type="http://schemas.openxmlformats.org/officeDocument/2006/relationships/image" Target="../media/image4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44.png"/><Relationship Id="rId5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59.png"/><Relationship Id="rId11" Type="http://schemas.openxmlformats.org/officeDocument/2006/relationships/image" Target="../media/image55.png"/><Relationship Id="rId10" Type="http://schemas.openxmlformats.org/officeDocument/2006/relationships/image" Target="../media/image50.png"/><Relationship Id="rId9" Type="http://schemas.openxmlformats.org/officeDocument/2006/relationships/image" Target="../media/image54.png"/><Relationship Id="rId5" Type="http://schemas.openxmlformats.org/officeDocument/2006/relationships/image" Target="../media/image56.png"/><Relationship Id="rId6" Type="http://schemas.openxmlformats.org/officeDocument/2006/relationships/image" Target="../media/image58.png"/><Relationship Id="rId7" Type="http://schemas.openxmlformats.org/officeDocument/2006/relationships/image" Target="../media/image47.png"/><Relationship Id="rId8" Type="http://schemas.openxmlformats.org/officeDocument/2006/relationships/image" Target="../media/image5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61.png"/><Relationship Id="rId5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734692"/>
            <a:ext cx="8572500" cy="183058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595437" y="1292572"/>
            <a:ext cx="900112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Frontier Research in Generative AI &amp; NLP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2911822"/>
            <a:ext cx="8572500" cy="346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MSc Thesis Topic Selection: A Review of 9 Research Directions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095500" y="4182367"/>
            <a:ext cx="390525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Presenter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095500" y="4570958"/>
            <a:ext cx="390525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Md. Mahfuzur Rahman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095500" y="4959548"/>
            <a:ext cx="390525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CSE, BUET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191250" y="4182367"/>
            <a:ext cx="390525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Supervision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191250" y="4570958"/>
            <a:ext cx="390525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[Supervisor Name]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191250" y="4959548"/>
            <a:ext cx="390525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May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19200"/>
            <a:ext cx="2619375" cy="20230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1219200"/>
            <a:ext cx="2619375" cy="20230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1219200"/>
            <a:ext cx="2619375" cy="20230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1125" y="1219200"/>
            <a:ext cx="2619375" cy="20230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571500" y="3810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Research Methodology &amp; Ranking Framework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962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5" name="Google Shape;105;p14"/>
          <p:cNvGraphicFramePr/>
          <p:nvPr/>
        </p:nvGraphicFramePr>
        <p:xfrm>
          <a:off x="571500" y="35279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{4DF18E25-9415-48BD-AE2A-7925C7C6ACA5}</a:tableStyleId>
              </a:tblPr>
              <a:tblGrid>
                <a:gridCol w="2762250"/>
                <a:gridCol w="5524500"/>
                <a:gridCol w="2762250"/>
              </a:tblGrid>
              <a:tr h="37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Criterion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Core Question for Evaluation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Success 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37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MSc Feasibility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Can this be completed in 12 months with BUET compute?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GPU utilization /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Dataset Availability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Does high-quality training data exist for Bangla?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Token Count / Cleanliness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</a:tr>
              <a:tr h="37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Research Novelty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Is there a genuine gap in 2026 frontier literature?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SOTA Comparison Gap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Personal Alignment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Does it match my SE + GenAI background?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Skill Synergy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1419225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771525" y="1752600"/>
            <a:ext cx="233029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Literature Survey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71525" y="2200275"/>
            <a:ext cx="2219325" cy="67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Spanning 2020–2026 across RAG, Quantization, and Bangla NLP.</a:t>
            </a:r>
            <a:endParaRPr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81400" y="1419225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3581400" y="1752600"/>
            <a:ext cx="233029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Identification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3581400" y="2200275"/>
            <a:ext cx="2219325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Extracted 9 viable niches within the current GenAI space.</a:t>
            </a:r>
            <a:endParaRPr/>
          </a:p>
        </p:txBody>
      </p:sp>
      <p:pic>
        <p:nvPicPr>
          <p:cNvPr descr="image.png" id="112" name="Google Shape;11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91275" y="1419225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6391275" y="1752600"/>
            <a:ext cx="233029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Scoring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391275" y="2200275"/>
            <a:ext cx="2219325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Ranked via 2x2 matrix: Novelty vs. MSc Feasibility.</a:t>
            </a:r>
            <a:endParaRPr/>
          </a:p>
        </p:txBody>
      </p:sp>
      <p:pic>
        <p:nvPicPr>
          <p:cNvPr descr="image.png" id="115" name="Google Shape;11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01150" y="1419225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9201150" y="1752600"/>
            <a:ext cx="233029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Shortlisting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9201150" y="2200275"/>
            <a:ext cx="2219325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Selected Top 3 based on departmental alignment.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571500" y="4294733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3333750" y="4294733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8858250" y="4294733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571500" y="4666208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3333750" y="4666208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8858250" y="4666208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571500" y="5037683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3333750" y="5037683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8858250" y="5037683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571500" y="5409158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3333750" y="5409158"/>
            <a:ext cx="5524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8858250" y="5409158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0" name="Google Shape;13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2487" y="150018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62362" y="150018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48425" y="1500187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282112" y="1500187"/>
            <a:ext cx="1714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19200"/>
            <a:ext cx="11049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543050"/>
            <a:ext cx="5334000" cy="2234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543050"/>
            <a:ext cx="5334000" cy="223450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571500" y="3810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Topic 1: RAG Optimization ⭐ (Top Pick)</a:t>
            </a: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571500" y="962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571500" y="3968055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2026 Frontier Frameworks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1057275" y="1743075"/>
            <a:ext cx="488061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Problem &amp; Gap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771525" y="2190750"/>
            <a:ext cx="493395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Permutation Sensitivity: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Document ordering causes reasoning failures in standard RAG pipelines.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6772275" y="1743075"/>
            <a:ext cx="488061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Proposed Thesis Angle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6486525" y="2190750"/>
            <a:ext cx="493395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"Adaptive chunking and hybrid retrieval optimization for Bangla QA using RAG"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666750" y="4339530"/>
            <a:ext cx="33654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Stable-RAG: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Hidden-state clustering during decoding to stabilize reasoning.</a:t>
            </a:r>
            <a:endParaRPr/>
          </a:p>
        </p:txBody>
      </p:sp>
      <p:sp>
        <p:nvSpPr>
          <p:cNvPr id="150" name="Google Shape;150;p15"/>
          <p:cNvSpPr/>
          <p:nvPr/>
        </p:nvSpPr>
        <p:spPr>
          <a:xfrm>
            <a:off x="571500" y="4244280"/>
            <a:ext cx="38100" cy="552450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4413200" y="4339530"/>
            <a:ext cx="33654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VOTE-RAG: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Multi-agent retrieval voting + response consensus.</a:t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4317950" y="4244280"/>
            <a:ext cx="38100" cy="552450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8159650" y="4339530"/>
            <a:ext cx="336559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Hybrid Retrieval: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BM25 sparse + dense (FAISS) via RRF fusion.</a:t>
            </a: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8064400" y="4244280"/>
            <a:ext cx="38100" cy="552450"/>
          </a:xfrm>
          <a:prstGeom prst="rect">
            <a:avLst/>
          </a:prstGeom>
          <a:solidFill>
            <a:srgbClr val="004A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5" name="Google Shape;15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17907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5"/>
          <p:cNvSpPr txBox="1"/>
          <p:nvPr/>
        </p:nvSpPr>
        <p:spPr>
          <a:xfrm>
            <a:off x="857250" y="2806005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942975" y="2806005"/>
            <a:ext cx="4762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Bangla RAG systems are largely absent in current literature.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857250" y="3063180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942975" y="3063180"/>
            <a:ext cx="4762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Morphologically complex languages face unique chunking issues.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857250" y="3320355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942975" y="3320355"/>
            <a:ext cx="4762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Gap: Hallucination amplification in multi-document retrieval.</a:t>
            </a:r>
            <a:endParaRPr/>
          </a:p>
        </p:txBody>
      </p:sp>
      <p:pic>
        <p:nvPicPr>
          <p:cNvPr descr="image.png" id="162" name="Google Shape;16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525" y="17907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 txBox="1"/>
          <p:nvPr/>
        </p:nvSpPr>
        <p:spPr>
          <a:xfrm>
            <a:off x="6486525" y="2806005"/>
            <a:ext cx="2419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Metric: RC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References Completeness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9001125" y="2806005"/>
            <a:ext cx="2419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Metric: ICC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Intrachunk Cohesion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6486525" y="3225105"/>
            <a:ext cx="2419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Metric: BI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Block Integrity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9001125" y="3225105"/>
            <a:ext cx="2419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Metric: SC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Size Compliance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19200"/>
            <a:ext cx="11049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63205"/>
            <a:ext cx="11049000" cy="32137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543050"/>
            <a:ext cx="3555950" cy="1482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17950" y="1543050"/>
            <a:ext cx="3555950" cy="1482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64400" y="1543050"/>
            <a:ext cx="3556099" cy="148203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"/>
          <p:cNvSpPr txBox="1"/>
          <p:nvPr/>
        </p:nvSpPr>
        <p:spPr>
          <a:xfrm>
            <a:off x="571500" y="3810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Topic 2: Hallucination Detection &amp; Mitigation ⭐</a:t>
            </a:r>
            <a:endParaRPr/>
          </a:p>
        </p:txBody>
      </p:sp>
      <p:sp>
        <p:nvSpPr>
          <p:cNvPr id="178" name="Google Shape;178;p16"/>
          <p:cNvSpPr/>
          <p:nvPr/>
        </p:nvSpPr>
        <p:spPr>
          <a:xfrm>
            <a:off x="571500" y="962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1038225" y="3463230"/>
            <a:ext cx="1090136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The RAGognizer Architecture (2026)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771525" y="3910905"/>
            <a:ext cx="1064895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Proposed thesis: </a:t>
            </a: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"Joint optimization for hallucination-aware generation in Bangla LLMs"</a:t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771525" y="4299495"/>
            <a:ext cx="10648950" cy="7429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2" name="Google Shape;182;p16"/>
          <p:cNvGraphicFramePr/>
          <p:nvPr/>
        </p:nvGraphicFramePr>
        <p:xfrm>
          <a:off x="771525" y="42994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{4DF18E25-9415-48BD-AE2A-7925C7C6ACA5}</a:tableStyleId>
              </a:tblPr>
              <a:tblGrid>
                <a:gridCol w="1268900"/>
                <a:gridCol w="4507250"/>
                <a:gridCol w="974525"/>
                <a:gridCol w="389825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3-layer MLP detection head inserted directly inside LLM layers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Outcome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92.6% AUROC on Qwen3-4B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Loss Function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 = L_CE + λ L_BCE (Joint Cross-Entropy and Binary CE)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Signature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Attention sink analysis for citation validity (FACTUM)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sp>
        <p:nvSpPr>
          <p:cNvPr id="183" name="Google Shape;183;p16"/>
          <p:cNvSpPr txBox="1"/>
          <p:nvPr/>
        </p:nvSpPr>
        <p:spPr>
          <a:xfrm>
            <a:off x="771525" y="1743075"/>
            <a:ext cx="331369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Factuality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771525" y="2190750"/>
            <a:ext cx="315590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Contradicts real-world knowledge. Detected via citation analysis.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4517975" y="1743075"/>
            <a:ext cx="331369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Faithfulness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4517975" y="2190750"/>
            <a:ext cx="315590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Contradicts provided context. Detected via reasoning graphs.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8273950" y="1752600"/>
            <a:ext cx="32938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Joint Optimization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8273950" y="2200275"/>
            <a:ext cx="3136999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Embedding detection heads inside the model itself (2026 SOTA).</a:t>
            </a:r>
            <a:endParaRPr/>
          </a:p>
        </p:txBody>
      </p:sp>
      <p:pic>
        <p:nvPicPr>
          <p:cNvPr descr="image.png" id="189" name="Google Shape;18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1525" y="351085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6"/>
          <p:cNvSpPr/>
          <p:nvPr/>
        </p:nvSpPr>
        <p:spPr>
          <a:xfrm>
            <a:off x="771525" y="4656683"/>
            <a:ext cx="12689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2040433" y="4656683"/>
            <a:ext cx="45072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6547693" y="4656683"/>
            <a:ext cx="9745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7522219" y="4656683"/>
            <a:ext cx="38982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771525" y="5028158"/>
            <a:ext cx="12689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6"/>
          <p:cNvSpPr/>
          <p:nvPr/>
        </p:nvSpPr>
        <p:spPr>
          <a:xfrm>
            <a:off x="2040433" y="5028158"/>
            <a:ext cx="45072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/>
          <p:nvPr/>
        </p:nvSpPr>
        <p:spPr>
          <a:xfrm>
            <a:off x="6547693" y="5028158"/>
            <a:ext cx="9745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/>
          <p:nvPr/>
        </p:nvSpPr>
        <p:spPr>
          <a:xfrm>
            <a:off x="7522219" y="5028158"/>
            <a:ext cx="38982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19200"/>
            <a:ext cx="11049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00475"/>
            <a:ext cx="11049000" cy="8362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543050"/>
            <a:ext cx="533400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1543050"/>
            <a:ext cx="5334000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7"/>
          <p:cNvSpPr txBox="1"/>
          <p:nvPr/>
        </p:nvSpPr>
        <p:spPr>
          <a:xfrm>
            <a:off x="571500" y="3810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Topic 3: Multilingual &amp; Low-Resource Bangla ⭐</a:t>
            </a:r>
            <a:endParaRPr/>
          </a:p>
        </p:txBody>
      </p:sp>
      <p:sp>
        <p:nvSpPr>
          <p:cNvPr id="208" name="Google Shape;208;p17"/>
          <p:cNvSpPr/>
          <p:nvPr/>
        </p:nvSpPr>
        <p:spPr>
          <a:xfrm>
            <a:off x="571500" y="962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714375" y="4105275"/>
            <a:ext cx="1076325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Note: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Aligning with BUET's </a:t>
            </a: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BanglaBERT</a:t>
            </a: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tradition to ensure continuity in regional research leadership.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1038225" y="1743075"/>
            <a:ext cx="490061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TituLLMs &amp; Sangraha (2026)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771525" y="2124075"/>
            <a:ext cx="49339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4A99"/>
                </a:solidFill>
                <a:latin typeface="Lato"/>
                <a:ea typeface="Lato"/>
                <a:cs typeface="Lato"/>
                <a:sym typeface="Lato"/>
              </a:rPr>
              <a:t>37B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Tokens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6772275" y="1743075"/>
            <a:ext cx="488061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Domain-Specific Finetuning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6486525" y="2190750"/>
            <a:ext cx="493395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Focus on </a:t>
            </a: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Bangla Legal/Medical QA</a:t>
            </a: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214" name="Google Shape;21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179070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7"/>
          <p:cNvSpPr txBox="1"/>
          <p:nvPr/>
        </p:nvSpPr>
        <p:spPr>
          <a:xfrm>
            <a:off x="857250" y="2590800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942975" y="2590800"/>
            <a:ext cx="4762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Bangla MMLU: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87,869 entries (BCS/Univ).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857250" y="2847975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942975" y="2847975"/>
            <a:ext cx="4762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SOMAJGYAAN: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4,234 Social Knowledge questions.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857250" y="3105150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942975" y="3105150"/>
            <a:ext cx="4762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Problem: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Tokenizer efficiency (TPW) in earlier models (BongLLaMA).</a:t>
            </a:r>
            <a:endParaRPr/>
          </a:p>
        </p:txBody>
      </p:sp>
      <p:pic>
        <p:nvPicPr>
          <p:cNvPr descr="image.png" id="221" name="Google Shape;22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86525" y="17907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7"/>
          <p:cNvSpPr txBox="1"/>
          <p:nvPr/>
        </p:nvSpPr>
        <p:spPr>
          <a:xfrm>
            <a:off x="6572250" y="2579340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6657975" y="2579340"/>
            <a:ext cx="4762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 Pipeline: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Expressive Semantic Translation for synthetic data.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6572250" y="2836515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6657975" y="2836515"/>
            <a:ext cx="4762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BanglaMedQA: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2,000 medical QA entries.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6572250" y="3093690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6657975" y="3093690"/>
            <a:ext cx="4762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Gap: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Overcoming the "Embedding Barrier" for native scripts.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46190"/>
            <a:ext cx="11049000" cy="243080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8"/>
          <p:cNvSpPr txBox="1"/>
          <p:nvPr/>
        </p:nvSpPr>
        <p:spPr>
          <a:xfrm>
            <a:off x="571500" y="3810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Topic 4: Efficient &amp; Lightweight LLMs</a:t>
            </a:r>
            <a:endParaRPr/>
          </a:p>
        </p:txBody>
      </p:sp>
      <p:sp>
        <p:nvSpPr>
          <p:cNvPr id="235" name="Google Shape;235;p18"/>
          <p:cNvSpPr/>
          <p:nvPr/>
        </p:nvSpPr>
        <p:spPr>
          <a:xfrm>
            <a:off x="571500" y="962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571500" y="1381125"/>
            <a:ext cx="1104900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Proposed Angle: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"Quality-efficiency trade-offs in sub-1-bit quantized LLMs for Bangla tasks."</a:t>
            </a:r>
            <a:endParaRPr/>
          </a:p>
        </p:txBody>
      </p:sp>
      <p:graphicFrame>
        <p:nvGraphicFramePr>
          <p:cNvPr id="237" name="Google Shape;237;p18"/>
          <p:cNvGraphicFramePr/>
          <p:nvPr/>
        </p:nvGraphicFramePr>
        <p:xfrm>
          <a:off x="571500" y="19602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{4DF18E25-9415-48BD-AE2A-7925C7C6ACA5}</a:tableStyleId>
              </a:tblPr>
              <a:tblGrid>
                <a:gridCol w="2596450"/>
                <a:gridCol w="1933575"/>
                <a:gridCol w="3452800"/>
                <a:gridCol w="3066150"/>
              </a:tblGrid>
              <a:tr h="37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Precision Level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70B Model Size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Hardware Requirement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2026 Frontier Tech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37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FP16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138 GB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Enterprise GPU Cluster (H100)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Standard Baseline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4-bit (QLoRA)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~35 GB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High-end Consumer (RTX 4090)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Dettmers et al. (2023)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</a:tr>
              <a:tr h="37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1-bit (BTC-LLM)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~10 GB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Mid-range Consumer (RTX 3060)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Binary Pattern Clustering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4A9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Sub-1-bit (NanoQuant)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4A9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5.35 GB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4A9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Standard Consumer (8GB GPU)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4A9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ADMM Binary Factorization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sp>
        <p:nvSpPr>
          <p:cNvPr id="238" name="Google Shape;238;p18"/>
          <p:cNvSpPr txBox="1"/>
          <p:nvPr/>
        </p:nvSpPr>
        <p:spPr>
          <a:xfrm>
            <a:off x="771525" y="4408140"/>
            <a:ext cx="1064895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Feasibility Note: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Sub-1-bit models now achieve 20.11 tokens/second on standard 8GB hardware. Ideal for researchers with limited compute access.</a:t>
            </a:r>
            <a:endParaRPr/>
          </a:p>
        </p:txBody>
      </p:sp>
      <p:sp>
        <p:nvSpPr>
          <p:cNvPr id="239" name="Google Shape;239;p18"/>
          <p:cNvSpPr/>
          <p:nvPr/>
        </p:nvSpPr>
        <p:spPr>
          <a:xfrm>
            <a:off x="571500" y="2726977"/>
            <a:ext cx="25964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3167955" y="2726977"/>
            <a:ext cx="1933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5101530" y="2726977"/>
            <a:ext cx="34528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8554342" y="2726977"/>
            <a:ext cx="30661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571500" y="3098452"/>
            <a:ext cx="25964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3167955" y="3098452"/>
            <a:ext cx="1933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5101530" y="3098452"/>
            <a:ext cx="34528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8554342" y="3098452"/>
            <a:ext cx="30661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571500" y="3469927"/>
            <a:ext cx="25964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3167955" y="3469927"/>
            <a:ext cx="1933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5101530" y="3469927"/>
            <a:ext cx="34528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8554342" y="3469927"/>
            <a:ext cx="30661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571500" y="3841402"/>
            <a:ext cx="25964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3167955" y="3841402"/>
            <a:ext cx="1933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5101530" y="3841402"/>
            <a:ext cx="34528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8554342" y="3841402"/>
            <a:ext cx="30661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46970"/>
            <a:ext cx="11049000" cy="33300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219200"/>
            <a:ext cx="3555950" cy="1689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7950" y="1219200"/>
            <a:ext cx="3555950" cy="1689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4400" y="1219200"/>
            <a:ext cx="3556099" cy="168964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9"/>
          <p:cNvSpPr txBox="1"/>
          <p:nvPr/>
        </p:nvSpPr>
        <p:spPr>
          <a:xfrm>
            <a:off x="571500" y="3810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Topic 5: Code Generation &amp; Software Engineering</a:t>
            </a:r>
            <a:endParaRPr/>
          </a:p>
        </p:txBody>
      </p:sp>
      <p:sp>
        <p:nvSpPr>
          <p:cNvPr id="265" name="Google Shape;265;p19"/>
          <p:cNvSpPr/>
          <p:nvPr/>
        </p:nvSpPr>
        <p:spPr>
          <a:xfrm>
            <a:off x="571500" y="962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 txBox="1"/>
          <p:nvPr/>
        </p:nvSpPr>
        <p:spPr>
          <a:xfrm>
            <a:off x="1085850" y="3346995"/>
            <a:ext cx="1085135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CodeScaleBench-Org Findings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771525" y="3794670"/>
            <a:ext cx="1064895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Evaluation on 220 enterprise tasks (repos &gt; 5GB). MCP-augmented agents achieved significant recall gains: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771525" y="1419225"/>
            <a:ext cx="331369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The "Solved" Fallacy</a:t>
            </a:r>
            <a:endParaRPr/>
          </a:p>
        </p:txBody>
      </p:sp>
      <p:sp>
        <p:nvSpPr>
          <p:cNvPr id="269" name="Google Shape;269;p19"/>
          <p:cNvSpPr txBox="1"/>
          <p:nvPr/>
        </p:nvSpPr>
        <p:spPr>
          <a:xfrm>
            <a:off x="771525" y="1866900"/>
            <a:ext cx="3155900" cy="67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HumanEval and MBPP are increasingly contaminated by training data. 2026 requires real-world repo evaluation.</a:t>
            </a:r>
            <a:endParaRPr/>
          </a:p>
        </p:txBody>
      </p:sp>
      <p:sp>
        <p:nvSpPr>
          <p:cNvPr id="270" name="Google Shape;270;p19"/>
          <p:cNvSpPr txBox="1"/>
          <p:nvPr/>
        </p:nvSpPr>
        <p:spPr>
          <a:xfrm>
            <a:off x="4517975" y="1419225"/>
            <a:ext cx="331369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Waterfall Degradation</a:t>
            </a:r>
            <a:endParaRPr/>
          </a:p>
        </p:txBody>
      </p:sp>
      <p:sp>
        <p:nvSpPr>
          <p:cNvPr id="271" name="Google Shape;271;p19"/>
          <p:cNvSpPr txBox="1"/>
          <p:nvPr/>
        </p:nvSpPr>
        <p:spPr>
          <a:xfrm>
            <a:off x="4517975" y="1866900"/>
            <a:ext cx="3155900" cy="67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Agents understand high-level intent but fail during concrete execution planning in large repos.</a:t>
            </a:r>
            <a:endParaRPr/>
          </a:p>
        </p:txBody>
      </p:sp>
      <p:sp>
        <p:nvSpPr>
          <p:cNvPr id="272" name="Google Shape;272;p19"/>
          <p:cNvSpPr txBox="1"/>
          <p:nvPr/>
        </p:nvSpPr>
        <p:spPr>
          <a:xfrm>
            <a:off x="8264425" y="1419225"/>
            <a:ext cx="331385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RACE-bench (2026)</a:t>
            </a:r>
            <a:endParaRPr/>
          </a:p>
        </p:txBody>
      </p:sp>
      <p:sp>
        <p:nvSpPr>
          <p:cNvPr id="273" name="Google Shape;273;p19"/>
          <p:cNvSpPr txBox="1"/>
          <p:nvPr/>
        </p:nvSpPr>
        <p:spPr>
          <a:xfrm>
            <a:off x="8264425" y="1866900"/>
            <a:ext cx="3156049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Dual-track evaluation: Patch correctness + Intermediate reasoning quality.</a:t>
            </a:r>
            <a:endParaRPr/>
          </a:p>
        </p:txBody>
      </p:sp>
      <p:pic>
        <p:nvPicPr>
          <p:cNvPr descr="image.png" id="274" name="Google Shape;27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339462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9"/>
          <p:cNvSpPr txBox="1"/>
          <p:nvPr/>
        </p:nvSpPr>
        <p:spPr>
          <a:xfrm>
            <a:off x="771525" y="4183260"/>
            <a:ext cx="528161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4A99"/>
                </a:solidFill>
                <a:latin typeface="Lato"/>
                <a:ea typeface="Lato"/>
                <a:cs typeface="Lato"/>
                <a:sym typeface="Lato"/>
              </a:rPr>
              <a:t>0.277</a:t>
            </a:r>
            <a:endParaRPr/>
          </a:p>
        </p:txBody>
      </p:sp>
      <p:sp>
        <p:nvSpPr>
          <p:cNvPr id="276" name="Google Shape;276;p19"/>
          <p:cNvSpPr txBox="1"/>
          <p:nvPr/>
        </p:nvSpPr>
        <p:spPr>
          <a:xfrm>
            <a:off x="771525" y="4554735"/>
            <a:ext cx="52816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MCP Agent Recall</a:t>
            </a:r>
            <a:endParaRPr/>
          </a:p>
        </p:txBody>
      </p:sp>
      <p:sp>
        <p:nvSpPr>
          <p:cNvPr id="277" name="Google Shape;277;p19"/>
          <p:cNvSpPr txBox="1"/>
          <p:nvPr/>
        </p:nvSpPr>
        <p:spPr>
          <a:xfrm>
            <a:off x="6138862" y="4183260"/>
            <a:ext cx="528161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4A99"/>
                </a:solidFill>
                <a:latin typeface="Lato"/>
                <a:ea typeface="Lato"/>
                <a:cs typeface="Lato"/>
                <a:sym typeface="Lato"/>
              </a:rPr>
              <a:t>0.127</a:t>
            </a:r>
            <a:endParaRPr/>
          </a:p>
        </p:txBody>
      </p:sp>
      <p:sp>
        <p:nvSpPr>
          <p:cNvPr id="278" name="Google Shape;278;p19"/>
          <p:cNvSpPr txBox="1"/>
          <p:nvPr/>
        </p:nvSpPr>
        <p:spPr>
          <a:xfrm>
            <a:off x="6138862" y="4554735"/>
            <a:ext cx="52816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Baseline Agent Recall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15630"/>
            <a:ext cx="11049000" cy="2861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219200"/>
            <a:ext cx="5334000" cy="215830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0"/>
          <p:cNvSpPr txBox="1"/>
          <p:nvPr/>
        </p:nvSpPr>
        <p:spPr>
          <a:xfrm>
            <a:off x="571500" y="3810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Topic 6: Evaluation Frameworks for Generative Models</a:t>
            </a:r>
            <a:endParaRPr/>
          </a:p>
        </p:txBody>
      </p:sp>
      <p:sp>
        <p:nvSpPr>
          <p:cNvPr id="287" name="Google Shape;287;p20"/>
          <p:cNvSpPr/>
          <p:nvPr/>
        </p:nvSpPr>
        <p:spPr>
          <a:xfrm>
            <a:off x="571500" y="962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771525" y="3815655"/>
            <a:ext cx="1118139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Case Study: Bangla Legal Findings (2026)</a:t>
            </a:r>
            <a:endParaRPr/>
          </a:p>
        </p:txBody>
      </p:sp>
      <p:sp>
        <p:nvSpPr>
          <p:cNvPr id="289" name="Google Shape;289;p20"/>
          <p:cNvSpPr txBox="1"/>
          <p:nvPr/>
        </p:nvSpPr>
        <p:spPr>
          <a:xfrm>
            <a:off x="771525" y="4263330"/>
            <a:ext cx="1064895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LLM judges missed fabricated citations identified by human Bangladeshi lawyers. </a:t>
            </a: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Conclusion: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Human-in-the-loop remains critical for safety-critical Bangla domains.</a:t>
            </a:r>
            <a:endParaRPr/>
          </a:p>
        </p:txBody>
      </p:sp>
      <p:sp>
        <p:nvSpPr>
          <p:cNvPr id="290" name="Google Shape;290;p20"/>
          <p:cNvSpPr txBox="1"/>
          <p:nvPr/>
        </p:nvSpPr>
        <p:spPr>
          <a:xfrm>
            <a:off x="571500" y="1219200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Standard Bias in "LLM-as-Judge"</a:t>
            </a:r>
            <a:endParaRPr/>
          </a:p>
        </p:txBody>
      </p:sp>
      <p:sp>
        <p:nvSpPr>
          <p:cNvPr id="291" name="Google Shape;291;p20"/>
          <p:cNvSpPr txBox="1"/>
          <p:nvPr/>
        </p:nvSpPr>
        <p:spPr>
          <a:xfrm>
            <a:off x="6800850" y="1419225"/>
            <a:ext cx="485060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Prometheus (2026)</a:t>
            </a:r>
            <a:endParaRPr/>
          </a:p>
        </p:txBody>
      </p:sp>
      <p:sp>
        <p:nvSpPr>
          <p:cNvPr id="292" name="Google Shape;292;p20"/>
          <p:cNvSpPr txBox="1"/>
          <p:nvPr/>
        </p:nvSpPr>
        <p:spPr>
          <a:xfrm>
            <a:off x="6486525" y="1866900"/>
            <a:ext cx="493395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Specialized judge model. High alignment with human judgment.</a:t>
            </a:r>
            <a:endParaRPr/>
          </a:p>
        </p:txBody>
      </p:sp>
      <p:sp>
        <p:nvSpPr>
          <p:cNvPr id="293" name="Google Shape;293;p20"/>
          <p:cNvSpPr txBox="1"/>
          <p:nvPr/>
        </p:nvSpPr>
        <p:spPr>
          <a:xfrm>
            <a:off x="6486525" y="2255490"/>
            <a:ext cx="49339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0.897</a:t>
            </a:r>
            <a:endParaRPr/>
          </a:p>
        </p:txBody>
      </p:sp>
      <p:sp>
        <p:nvSpPr>
          <p:cNvPr id="294" name="Google Shape;294;p20"/>
          <p:cNvSpPr txBox="1"/>
          <p:nvPr/>
        </p:nvSpPr>
        <p:spPr>
          <a:xfrm>
            <a:off x="6486525" y="2788890"/>
            <a:ext cx="493395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Correlation with human evaluators.</a:t>
            </a:r>
            <a:endParaRPr/>
          </a:p>
        </p:txBody>
      </p:sp>
      <p:sp>
        <p:nvSpPr>
          <p:cNvPr id="295" name="Google Shape;295;p20"/>
          <p:cNvSpPr/>
          <p:nvPr/>
        </p:nvSpPr>
        <p:spPr>
          <a:xfrm>
            <a:off x="571500" y="1647825"/>
            <a:ext cx="5334000" cy="379065"/>
          </a:xfrm>
          <a:prstGeom prst="roundRect">
            <a:avLst>
              <a:gd fmla="val 10051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647700" y="1724025"/>
            <a:ext cx="518160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Position Bias: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Favors the first response.</a:t>
            </a:r>
            <a:endParaRPr/>
          </a:p>
        </p:txBody>
      </p:sp>
      <p:sp>
        <p:nvSpPr>
          <p:cNvPr id="297" name="Google Shape;297;p20"/>
          <p:cNvSpPr/>
          <p:nvPr/>
        </p:nvSpPr>
        <p:spPr>
          <a:xfrm>
            <a:off x="571500" y="2103090"/>
            <a:ext cx="5334000" cy="379065"/>
          </a:xfrm>
          <a:prstGeom prst="roundRect">
            <a:avLst>
              <a:gd fmla="val 10051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647700" y="2179290"/>
            <a:ext cx="518160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Verbosity Bias: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Longer = Higher score.</a:t>
            </a:r>
            <a:endParaRPr/>
          </a:p>
        </p:txBody>
      </p:sp>
      <p:sp>
        <p:nvSpPr>
          <p:cNvPr id="299" name="Google Shape;299;p20"/>
          <p:cNvSpPr/>
          <p:nvPr/>
        </p:nvSpPr>
        <p:spPr>
          <a:xfrm>
            <a:off x="571500" y="2558355"/>
            <a:ext cx="5334000" cy="379065"/>
          </a:xfrm>
          <a:prstGeom prst="roundRect">
            <a:avLst>
              <a:gd fmla="val 10051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647700" y="2634555"/>
            <a:ext cx="518160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Self-Preference: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Favors same-family models.</a:t>
            </a:r>
            <a:endParaRPr/>
          </a:p>
        </p:txBody>
      </p:sp>
      <p:pic>
        <p:nvPicPr>
          <p:cNvPr descr="image.png" id="301" name="Google Shape;30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25" y="1466850"/>
            <a:ext cx="2190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6" name="Google Shape;3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19200"/>
            <a:ext cx="11049000" cy="20251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82429"/>
            <a:ext cx="3555950" cy="1786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7950" y="3482429"/>
            <a:ext cx="3555950" cy="1786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4400" y="3482429"/>
            <a:ext cx="3556099" cy="1786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3682454"/>
            <a:ext cx="6477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17975" y="3682454"/>
            <a:ext cx="6477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64425" y="3682454"/>
            <a:ext cx="6477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1"/>
          <p:cNvSpPr txBox="1"/>
          <p:nvPr/>
        </p:nvSpPr>
        <p:spPr>
          <a:xfrm>
            <a:off x="571500" y="3810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Topic 7: Fine-Tuning vs. Prompt Engineering</a:t>
            </a:r>
            <a:endParaRPr/>
          </a:p>
        </p:txBody>
      </p:sp>
      <p:sp>
        <p:nvSpPr>
          <p:cNvPr id="315" name="Google Shape;315;p21"/>
          <p:cNvSpPr/>
          <p:nvPr/>
        </p:nvSpPr>
        <p:spPr>
          <a:xfrm>
            <a:off x="571500" y="962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771525" y="1581150"/>
            <a:ext cx="1064895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"BetterTogether" Hybrid Strategy (2026):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Reframing the binary choice into a 3-stage optimization pipeline.</a:t>
            </a:r>
            <a:endParaRPr/>
          </a:p>
        </p:txBody>
      </p:sp>
      <p:sp>
        <p:nvSpPr>
          <p:cNvPr id="317" name="Google Shape;317;p21"/>
          <p:cNvSpPr txBox="1"/>
          <p:nvPr/>
        </p:nvSpPr>
        <p:spPr>
          <a:xfrm>
            <a:off x="771525" y="4006304"/>
            <a:ext cx="331369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DSPy Optimization</a:t>
            </a:r>
            <a:endParaRPr/>
          </a:p>
        </p:txBody>
      </p:sp>
      <p:sp>
        <p:nvSpPr>
          <p:cNvPr id="318" name="Google Shape;318;p21"/>
          <p:cNvSpPr txBox="1"/>
          <p:nvPr/>
        </p:nvSpPr>
        <p:spPr>
          <a:xfrm>
            <a:off x="771525" y="4453979"/>
            <a:ext cx="315590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Programmatic prompt optimization; treating prompts as trainable parameters.</a:t>
            </a:r>
            <a:endParaRPr/>
          </a:p>
        </p:txBody>
      </p:sp>
      <p:sp>
        <p:nvSpPr>
          <p:cNvPr id="319" name="Google Shape;319;p21"/>
          <p:cNvSpPr txBox="1"/>
          <p:nvPr/>
        </p:nvSpPr>
        <p:spPr>
          <a:xfrm>
            <a:off x="4517975" y="4006304"/>
            <a:ext cx="331369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SFT (Supervised)</a:t>
            </a:r>
            <a:endParaRPr/>
          </a:p>
        </p:txBody>
      </p:sp>
      <p:sp>
        <p:nvSpPr>
          <p:cNvPr id="320" name="Google Shape;320;p21"/>
          <p:cNvSpPr txBox="1"/>
          <p:nvPr/>
        </p:nvSpPr>
        <p:spPr>
          <a:xfrm>
            <a:off x="4517975" y="4453979"/>
            <a:ext cx="315590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"Baking in" formatting and domain-specific stylistic requirements.</a:t>
            </a:r>
            <a:endParaRPr/>
          </a:p>
        </p:txBody>
      </p:sp>
      <p:sp>
        <p:nvSpPr>
          <p:cNvPr id="321" name="Google Shape;321;p21"/>
          <p:cNvSpPr txBox="1"/>
          <p:nvPr/>
        </p:nvSpPr>
        <p:spPr>
          <a:xfrm>
            <a:off x="8264425" y="4006304"/>
            <a:ext cx="331385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GRPO (RL)</a:t>
            </a:r>
            <a:endParaRPr/>
          </a:p>
        </p:txBody>
      </p:sp>
      <p:sp>
        <p:nvSpPr>
          <p:cNvPr id="322" name="Google Shape;322;p21"/>
          <p:cNvSpPr txBox="1"/>
          <p:nvPr/>
        </p:nvSpPr>
        <p:spPr>
          <a:xfrm>
            <a:off x="8264425" y="4453979"/>
            <a:ext cx="3156049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Group Relative Policy Optimization to push the reasoning ceiling.</a:t>
            </a:r>
            <a:endParaRPr/>
          </a:p>
        </p:txBody>
      </p:sp>
      <p:sp>
        <p:nvSpPr>
          <p:cNvPr id="323" name="Google Shape;323;p21"/>
          <p:cNvSpPr txBox="1"/>
          <p:nvPr/>
        </p:nvSpPr>
        <p:spPr>
          <a:xfrm>
            <a:off x="2286000" y="5555009"/>
            <a:ext cx="1428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4A99"/>
                </a:solidFill>
                <a:latin typeface="Lato"/>
                <a:ea typeface="Lato"/>
                <a:cs typeface="Lato"/>
                <a:sym typeface="Lato"/>
              </a:rPr>
              <a:t>14x</a:t>
            </a:r>
            <a:endParaRPr/>
          </a:p>
        </p:txBody>
      </p:sp>
      <p:sp>
        <p:nvSpPr>
          <p:cNvPr id="324" name="Google Shape;324;p21"/>
          <p:cNvSpPr txBox="1"/>
          <p:nvPr/>
        </p:nvSpPr>
        <p:spPr>
          <a:xfrm>
            <a:off x="2286000" y="6088409"/>
            <a:ext cx="142875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Cost-Efficiency Gain</a:t>
            </a:r>
            <a:endParaRPr/>
          </a:p>
        </p:txBody>
      </p:sp>
      <p:sp>
        <p:nvSpPr>
          <p:cNvPr id="325" name="Google Shape;325;p21"/>
          <p:cNvSpPr txBox="1"/>
          <p:nvPr/>
        </p:nvSpPr>
        <p:spPr>
          <a:xfrm>
            <a:off x="4191000" y="5789265"/>
            <a:ext cx="571500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hybrid approach allows small models (7B) to outperform large frontier models (GPT-5) on repetitive, domain-specific Bangla tasks.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0" name="Google Shape;33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82230"/>
            <a:ext cx="11049000" cy="33947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219200"/>
            <a:ext cx="5334000" cy="1624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219200"/>
            <a:ext cx="5334000" cy="162490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2"/>
          <p:cNvSpPr txBox="1"/>
          <p:nvPr/>
        </p:nvSpPr>
        <p:spPr>
          <a:xfrm>
            <a:off x="571500" y="3810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Topic 8: AI Agents &amp; Tool-Using LLMs</a:t>
            </a:r>
            <a:endParaRPr/>
          </a:p>
        </p:txBody>
      </p:sp>
      <p:sp>
        <p:nvSpPr>
          <p:cNvPr id="335" name="Google Shape;335;p22"/>
          <p:cNvSpPr/>
          <p:nvPr/>
        </p:nvSpPr>
        <p:spPr>
          <a:xfrm>
            <a:off x="571500" y="962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2"/>
          <p:cNvSpPr txBox="1"/>
          <p:nvPr/>
        </p:nvSpPr>
        <p:spPr>
          <a:xfrm>
            <a:off x="838200" y="3282255"/>
            <a:ext cx="111113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Thesis Focus: "MCP-augmented Bangla Academic Agent"</a:t>
            </a:r>
            <a:endParaRPr/>
          </a:p>
        </p:txBody>
      </p:sp>
      <p:sp>
        <p:nvSpPr>
          <p:cNvPr id="337" name="Google Shape;337;p22"/>
          <p:cNvSpPr txBox="1"/>
          <p:nvPr/>
        </p:nvSpPr>
        <p:spPr>
          <a:xfrm>
            <a:off x="838200" y="3729930"/>
            <a:ext cx="10582275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Restricting domain to academic research assistance to maintain thesis scope while testing 2026 tool-using capabilities in a Bangla context.</a:t>
            </a:r>
            <a:endParaRPr/>
          </a:p>
        </p:txBody>
      </p:sp>
      <p:sp>
        <p:nvSpPr>
          <p:cNvPr id="338" name="Google Shape;338;p22"/>
          <p:cNvSpPr txBox="1"/>
          <p:nvPr/>
        </p:nvSpPr>
        <p:spPr>
          <a:xfrm>
            <a:off x="1057275" y="1419225"/>
            <a:ext cx="488061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Planning Loops</a:t>
            </a:r>
            <a:endParaRPr/>
          </a:p>
        </p:txBody>
      </p:sp>
      <p:sp>
        <p:nvSpPr>
          <p:cNvPr id="339" name="Google Shape;339;p22"/>
          <p:cNvSpPr txBox="1"/>
          <p:nvPr/>
        </p:nvSpPr>
        <p:spPr>
          <a:xfrm>
            <a:off x="771525" y="1866900"/>
            <a:ext cx="493395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ReAct: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Thought → Action → Observation cycles.</a:t>
            </a:r>
            <a:endParaRPr/>
          </a:p>
        </p:txBody>
      </p:sp>
      <p:sp>
        <p:nvSpPr>
          <p:cNvPr id="340" name="Google Shape;340;p22"/>
          <p:cNvSpPr txBox="1"/>
          <p:nvPr/>
        </p:nvSpPr>
        <p:spPr>
          <a:xfrm>
            <a:off x="771525" y="2255490"/>
            <a:ext cx="493395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Reflexion: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Verbal reinforcement learning via self-critique.</a:t>
            </a:r>
            <a:endParaRPr/>
          </a:p>
        </p:txBody>
      </p:sp>
      <p:sp>
        <p:nvSpPr>
          <p:cNvPr id="341" name="Google Shape;341;p22"/>
          <p:cNvSpPr txBox="1"/>
          <p:nvPr/>
        </p:nvSpPr>
        <p:spPr>
          <a:xfrm>
            <a:off x="6486525" y="1419225"/>
            <a:ext cx="51806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MCP Protocol (2026)</a:t>
            </a:r>
            <a:endParaRPr/>
          </a:p>
        </p:txBody>
      </p:sp>
      <p:sp>
        <p:nvSpPr>
          <p:cNvPr id="342" name="Google Shape;342;p22"/>
          <p:cNvSpPr txBox="1"/>
          <p:nvPr/>
        </p:nvSpPr>
        <p:spPr>
          <a:xfrm>
            <a:off x="6486525" y="1866900"/>
            <a:ext cx="493395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Model Context Protocol: Standard for enterprise agent tool-use. Enables cross-repo symbol resolution and semantic search.</a:t>
            </a:r>
            <a:endParaRPr/>
          </a:p>
        </p:txBody>
      </p:sp>
      <p:pic>
        <p:nvPicPr>
          <p:cNvPr descr="image.png" id="343" name="Google Shape;34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146685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8" name="Google Shape;34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19200"/>
            <a:ext cx="11049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71900"/>
            <a:ext cx="1104900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3"/>
          <p:cNvSpPr txBox="1"/>
          <p:nvPr/>
        </p:nvSpPr>
        <p:spPr>
          <a:xfrm>
            <a:off x="571500" y="3810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Topic 9: Ethics &amp; Safety of GenAI</a:t>
            </a:r>
            <a:endParaRPr/>
          </a:p>
        </p:txBody>
      </p:sp>
      <p:sp>
        <p:nvSpPr>
          <p:cNvPr id="352" name="Google Shape;352;p23"/>
          <p:cNvSpPr/>
          <p:nvPr/>
        </p:nvSpPr>
        <p:spPr>
          <a:xfrm>
            <a:off x="571500" y="962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3" name="Google Shape;353;p23"/>
          <p:cNvGraphicFramePr/>
          <p:nvPr/>
        </p:nvGraphicFramePr>
        <p:xfrm>
          <a:off x="571500" y="16383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{4DF18E25-9415-48BD-AE2A-7925C7C6ACA5}</a:tableStyleId>
              </a:tblPr>
              <a:tblGrid>
                <a:gridCol w="2756150"/>
                <a:gridCol w="3595100"/>
                <a:gridCol w="2324700"/>
                <a:gridCol w="2373075"/>
              </a:tblGrid>
              <a:tr h="37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Safe Response 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Unsafe 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Refusal 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37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Grok-3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83.6%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LLaMA 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78.7%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</a:tr>
              <a:tr h="37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GPT-4o Mini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58.5%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20.7%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16.1%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Qwen 1.5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4.5%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54.5%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16.0%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sp>
        <p:nvSpPr>
          <p:cNvPr id="354" name="Google Shape;354;p23"/>
          <p:cNvSpPr txBox="1"/>
          <p:nvPr/>
        </p:nvSpPr>
        <p:spPr>
          <a:xfrm>
            <a:off x="771525" y="4133850"/>
            <a:ext cx="1064895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Critical Gap: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"Safety Drift" shows only 12.8% cross-language agreement. A model safe in English often generates toxic or biased content in Bangla due to lack of cultural grounding.</a:t>
            </a:r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571500" y="2405062"/>
            <a:ext cx="27561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3327648" y="2405062"/>
            <a:ext cx="35950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6922740" y="2405062"/>
            <a:ext cx="23246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9247435" y="2405062"/>
            <a:ext cx="2373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571500" y="2776537"/>
            <a:ext cx="27561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3327648" y="2776537"/>
            <a:ext cx="35950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6922740" y="2776537"/>
            <a:ext cx="23246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9247435" y="2776537"/>
            <a:ext cx="2373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3"/>
          <p:cNvSpPr/>
          <p:nvPr/>
        </p:nvSpPr>
        <p:spPr>
          <a:xfrm>
            <a:off x="571500" y="3148012"/>
            <a:ext cx="27561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3327648" y="3148012"/>
            <a:ext cx="35950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3"/>
          <p:cNvSpPr/>
          <p:nvPr/>
        </p:nvSpPr>
        <p:spPr>
          <a:xfrm>
            <a:off x="6922740" y="3148012"/>
            <a:ext cx="23246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3"/>
          <p:cNvSpPr/>
          <p:nvPr/>
        </p:nvSpPr>
        <p:spPr>
          <a:xfrm>
            <a:off x="9247435" y="3148012"/>
            <a:ext cx="2373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3"/>
          <p:cNvSpPr/>
          <p:nvPr/>
        </p:nvSpPr>
        <p:spPr>
          <a:xfrm>
            <a:off x="571500" y="3519487"/>
            <a:ext cx="27561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3"/>
          <p:cNvSpPr/>
          <p:nvPr/>
        </p:nvSpPr>
        <p:spPr>
          <a:xfrm>
            <a:off x="3327648" y="3519487"/>
            <a:ext cx="35950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3"/>
          <p:cNvSpPr/>
          <p:nvPr/>
        </p:nvSpPr>
        <p:spPr>
          <a:xfrm>
            <a:off x="6922740" y="3519487"/>
            <a:ext cx="23246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9247435" y="3519487"/>
            <a:ext cx="2373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5" name="Google Shape;37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66070"/>
            <a:ext cx="11049000" cy="29109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219200"/>
            <a:ext cx="3555950" cy="2061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8" name="Google Shape;37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7950" y="1219200"/>
            <a:ext cx="3555950" cy="2061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4400" y="1219200"/>
            <a:ext cx="3556099" cy="2061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1466850"/>
            <a:ext cx="8477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1" name="Google Shape;381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17975" y="1466850"/>
            <a:ext cx="8477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64425" y="1466850"/>
            <a:ext cx="8477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4"/>
          <p:cNvSpPr txBox="1"/>
          <p:nvPr/>
        </p:nvSpPr>
        <p:spPr>
          <a:xfrm>
            <a:off x="571500" y="3810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Recommendation &amp; Final Shortlist</a:t>
            </a:r>
            <a:endParaRPr/>
          </a:p>
        </p:txBody>
      </p:sp>
      <p:sp>
        <p:nvSpPr>
          <p:cNvPr id="384" name="Google Shape;384;p24"/>
          <p:cNvSpPr/>
          <p:nvPr/>
        </p:nvSpPr>
        <p:spPr>
          <a:xfrm>
            <a:off x="571500" y="962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4"/>
          <p:cNvSpPr txBox="1"/>
          <p:nvPr/>
        </p:nvSpPr>
        <p:spPr>
          <a:xfrm>
            <a:off x="771525" y="3766095"/>
            <a:ext cx="1118139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Decision Matrix for Supervisor</a:t>
            </a:r>
            <a:endParaRPr/>
          </a:p>
        </p:txBody>
      </p:sp>
      <p:sp>
        <p:nvSpPr>
          <p:cNvPr id="386" name="Google Shape;386;p24"/>
          <p:cNvSpPr txBox="1"/>
          <p:nvPr/>
        </p:nvSpPr>
        <p:spPr>
          <a:xfrm>
            <a:off x="771525" y="1790700"/>
            <a:ext cx="331369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RAG Optimization</a:t>
            </a:r>
            <a:endParaRPr/>
          </a:p>
        </p:txBody>
      </p:sp>
      <p:sp>
        <p:nvSpPr>
          <p:cNvPr id="387" name="Google Shape;387;p24"/>
          <p:cNvSpPr txBox="1"/>
          <p:nvPr/>
        </p:nvSpPr>
        <p:spPr>
          <a:xfrm>
            <a:off x="771525" y="2238375"/>
            <a:ext cx="3155900" cy="679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Strongest for technical systems contribution. Concrete benchmarks (Stable-RAG) available.</a:t>
            </a:r>
            <a:endParaRPr/>
          </a:p>
        </p:txBody>
      </p:sp>
      <p:sp>
        <p:nvSpPr>
          <p:cNvPr id="388" name="Google Shape;388;p24"/>
          <p:cNvSpPr txBox="1"/>
          <p:nvPr/>
        </p:nvSpPr>
        <p:spPr>
          <a:xfrm>
            <a:off x="4517975" y="1790700"/>
            <a:ext cx="331369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Hallucination Detect</a:t>
            </a:r>
            <a:endParaRPr/>
          </a:p>
        </p:txBody>
      </p:sp>
      <p:sp>
        <p:nvSpPr>
          <p:cNvPr id="389" name="Google Shape;389;p24"/>
          <p:cNvSpPr txBox="1"/>
          <p:nvPr/>
        </p:nvSpPr>
        <p:spPr>
          <a:xfrm>
            <a:off x="4517975" y="2238375"/>
            <a:ext cx="315590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Natural secondary contribution to Selection 1. High publishable novelty for Bangla.</a:t>
            </a:r>
            <a:endParaRPr/>
          </a:p>
        </p:txBody>
      </p:sp>
      <p:sp>
        <p:nvSpPr>
          <p:cNvPr id="390" name="Google Shape;390;p24"/>
          <p:cNvSpPr txBox="1"/>
          <p:nvPr/>
        </p:nvSpPr>
        <p:spPr>
          <a:xfrm>
            <a:off x="8264425" y="1790700"/>
            <a:ext cx="331385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Bangla Domain-FT</a:t>
            </a:r>
            <a:endParaRPr/>
          </a:p>
        </p:txBody>
      </p:sp>
      <p:sp>
        <p:nvSpPr>
          <p:cNvPr id="391" name="Google Shape;391;p24"/>
          <p:cNvSpPr txBox="1"/>
          <p:nvPr/>
        </p:nvSpPr>
        <p:spPr>
          <a:xfrm>
            <a:off x="8264425" y="2238375"/>
            <a:ext cx="3156049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Highest regional impact. Aligns with BUET's BanglaBERT research legacy.</a:t>
            </a:r>
            <a:endParaRPr/>
          </a:p>
        </p:txBody>
      </p:sp>
      <p:sp>
        <p:nvSpPr>
          <p:cNvPr id="392" name="Google Shape;392;p24"/>
          <p:cNvSpPr txBox="1"/>
          <p:nvPr/>
        </p:nvSpPr>
        <p:spPr>
          <a:xfrm>
            <a:off x="771525" y="4147095"/>
            <a:ext cx="5324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Computing: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Low-compute topics (4, 7, 9) vs High-compute (3, 5).</a:t>
            </a:r>
            <a:endParaRPr/>
          </a:p>
        </p:txBody>
      </p:sp>
      <p:sp>
        <p:nvSpPr>
          <p:cNvPr id="393" name="Google Shape;393;p24"/>
          <p:cNvSpPr txBox="1"/>
          <p:nvPr/>
        </p:nvSpPr>
        <p:spPr>
          <a:xfrm>
            <a:off x="6096000" y="4147095"/>
            <a:ext cx="5324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Synthetic-heavy (7, 10) vs Real-data (3, 11).</a:t>
            </a:r>
            <a:endParaRPr/>
          </a:p>
        </p:txBody>
      </p:sp>
      <p:sp>
        <p:nvSpPr>
          <p:cNvPr id="394" name="Google Shape;394;p24"/>
          <p:cNvSpPr txBox="1"/>
          <p:nvPr/>
        </p:nvSpPr>
        <p:spPr>
          <a:xfrm>
            <a:off x="771525" y="4442370"/>
            <a:ext cx="5324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Output: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Single system (1, 2, 8) vs Comparative study (6, 7, 9).</a:t>
            </a:r>
            <a:endParaRPr/>
          </a:p>
        </p:txBody>
      </p:sp>
      <p:pic>
        <p:nvPicPr>
          <p:cNvPr descr="image.png" id="395" name="Google Shape;395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71525" y="417567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6" name="Google Shape;396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96000" y="417567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7" name="Google Shape;397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71525" y="4470945"/>
            <a:ext cx="1238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2" name="Google Shape;40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3" name="Google Shape;40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0" y="3437483"/>
            <a:ext cx="3219450" cy="950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4" name="Google Shape;40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400" y="3437483"/>
            <a:ext cx="3200400" cy="95056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5"/>
          <p:cNvSpPr txBox="1"/>
          <p:nvPr/>
        </p:nvSpPr>
        <p:spPr>
          <a:xfrm>
            <a:off x="4535805" y="1736377"/>
            <a:ext cx="312039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04A99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406" name="Google Shape;406;p25"/>
          <p:cNvSpPr txBox="1"/>
          <p:nvPr/>
        </p:nvSpPr>
        <p:spPr>
          <a:xfrm>
            <a:off x="4500562" y="2736502"/>
            <a:ext cx="31908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Open for Guidance &amp; Discussion</a:t>
            </a:r>
            <a:endParaRPr/>
          </a:p>
        </p:txBody>
      </p:sp>
      <p:sp>
        <p:nvSpPr>
          <p:cNvPr id="407" name="Google Shape;407;p25"/>
          <p:cNvSpPr txBox="1"/>
          <p:nvPr/>
        </p:nvSpPr>
        <p:spPr>
          <a:xfrm>
            <a:off x="4090987" y="4959548"/>
            <a:ext cx="40100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Md. Mahfuzur Rahman | BUET CSE | mahfuz.rahman@cse.buet.ac.bd</a:t>
            </a:r>
            <a:endParaRPr/>
          </a:p>
        </p:txBody>
      </p:sp>
      <p:sp>
        <p:nvSpPr>
          <p:cNvPr id="408" name="Google Shape;408;p25"/>
          <p:cNvSpPr txBox="1"/>
          <p:nvPr/>
        </p:nvSpPr>
        <p:spPr>
          <a:xfrm>
            <a:off x="2943225" y="3799433"/>
            <a:ext cx="281940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Current Goal: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Finalize 1 direction today.</a:t>
            </a:r>
            <a:endParaRPr/>
          </a:p>
        </p:txBody>
      </p:sp>
      <p:sp>
        <p:nvSpPr>
          <p:cNvPr id="409" name="Google Shape;409;p25"/>
          <p:cNvSpPr txBox="1"/>
          <p:nvPr/>
        </p:nvSpPr>
        <p:spPr>
          <a:xfrm>
            <a:off x="6448425" y="3799433"/>
            <a:ext cx="280035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Next Step:</a:t>
            </a:r>
            <a:r>
              <a:rPr b="0" i="0" lang="en-US" sz="12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Detailed proposal in 14 days.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